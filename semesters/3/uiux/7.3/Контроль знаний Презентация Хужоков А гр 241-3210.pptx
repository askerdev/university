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19"/>
  </p:notesMasterIdLst>
  <p:sldIdLst>
    <p:sldId id="256" r:id="rId2"/>
    <p:sldId id="257" r:id="rId3"/>
    <p:sldId id="265" r:id="rId4"/>
    <p:sldId id="274" r:id="rId5"/>
    <p:sldId id="275" r:id="rId6"/>
    <p:sldId id="276" r:id="rId7"/>
    <p:sldId id="279" r:id="rId8"/>
    <p:sldId id="262" r:id="rId9"/>
    <p:sldId id="277" r:id="rId10"/>
    <p:sldId id="278" r:id="rId11"/>
    <p:sldId id="280" r:id="rId12"/>
    <p:sldId id="281" r:id="rId13"/>
    <p:sldId id="273" r:id="rId14"/>
    <p:sldId id="282" r:id="rId15"/>
    <p:sldId id="283" r:id="rId16"/>
    <p:sldId id="284" r:id="rId17"/>
    <p:sldId id="258" r:id="rId18"/>
  </p:sldIdLst>
  <p:sldSz cx="12192000" cy="6858000"/>
  <p:notesSz cx="6858000" cy="9144000"/>
  <p:embeddedFontLst>
    <p:embeddedFont>
      <p:font typeface="Gilroy Bold" pitchFamily="2" charset="77"/>
      <p:bold r:id="rId20"/>
    </p:embeddedFont>
    <p:embeddedFont>
      <p:font typeface="Gilroy Medium" pitchFamily="2" charset="77"/>
      <p:regular r:id="rId21"/>
    </p:embeddedFont>
    <p:embeddedFont>
      <p:font typeface="Verdana" panose="020B0604030504040204" pitchFamily="34" charset="0"/>
      <p:regular r:id="rId22"/>
      <p:bold r:id="rId23"/>
      <p:italic r:id="rId24"/>
      <p:boldItalic r:id="rId2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3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16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15.11.2025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830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4116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8E255-E3A6-754C-4E02-4D6FC6BB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922FC85-B7AA-7DA6-6E24-AF4B9A8E6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CB65CCE-8C55-0222-EF71-559154325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FA75AC-B0AE-9763-615F-533D46CDC7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951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554E9-F9B7-03F9-1869-4F35C93AD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565FA35-726B-2E39-4067-A5AE63FFE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8D85F16-947A-7943-068F-B979C66F4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A03246-7CA1-7CA7-6BDD-0F25431986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0471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78FA7-3E16-B563-F1B9-3A71C8BF4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CBF53AA-00E1-30B1-CEB4-1DE7C6261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9DAE640-7414-F20C-22D5-EA1D09A40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B079D02-8883-39B1-9BC0-BC2D2B813E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936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77B8B-E871-30E4-35C6-D85D3C607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F82990D-AED7-DA39-2505-700E9C659E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5231B29-EB7E-50AC-24EA-3F68BC697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415498-1616-BEAF-9E50-4CED2F3C0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9197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204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4B9AC-4EC4-F35A-1E82-C6E60387F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EB7FE10-8077-1169-EA45-04D7A2304A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76BAEAA-BEFC-B205-5E94-5DF65A4A3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A1F401-C3EF-C4ED-3AE3-E049A22FD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9559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1F7FE-0C4B-5464-33CB-957B184C8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39D7B82-D91E-89ED-1897-9BB59EA2F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9D2F608-17D0-AC91-C588-439FE2DFF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100B707-98D6-4F9E-86DF-39741FF8D4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89620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AB9F6-4E61-F888-C087-44E3F1E0E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0DA3BC9-AF10-5336-3DF3-3158A979AE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B820F6C-4433-F0DF-80CC-9846164F6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7EC3E8-D7F1-21A1-8173-91547FDDC3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2033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E54BB-0905-3F38-32BC-B18832FA5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039FC5D-30B1-51F5-44DF-91D0EF688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669B94A-D721-1123-5D43-2660D2EFB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392C66-0B37-6BE6-D9A5-3BAF3467FA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86412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6234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BB91C-D74C-F283-36F6-881A85824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8F1A109-8564-F787-D6EC-7D3766F2A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B2AF086-51ED-B05D-938B-15D5CD7BC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3557B7-FA76-8731-E87D-A5256FECC3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38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4F55C-B319-F581-C270-2258F300C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C0C2756-51DE-38F5-9264-2E02E38F2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E681BF4-11C9-73F0-C7F6-8E7283248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A4D1633-3C60-243C-6867-DEFDA0CAD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331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470CF-7A21-697A-7CF5-E08DC485A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8561025-BBD4-8870-21E8-BD98E5070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E81A5A3-30B2-78CB-64BC-80AAAC818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273E18-38F9-59FD-FCE9-343C6B9B98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20076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15.11.2025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15.11.2025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15.11.2025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15.11.2025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15.11.2025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15.11.2025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15.11.2025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15.11.2025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23037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Проектирование пользовательских интерфейсов</a:t>
            </a:r>
          </a:p>
          <a:p>
            <a:pPr algn="ctr"/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lang="ru-RU" dirty="0">
                <a:latin typeface="Gilroy Medium" panose="00000600000000000000" charset="-52"/>
              </a:rPr>
              <a:t>по направлению 09.03.01 Информатика и вычислительная техника</a:t>
            </a:r>
          </a:p>
          <a:p>
            <a:pPr algn="ctr"/>
            <a:r>
              <a:rPr lang="ru-RU" dirty="0">
                <a:latin typeface="Gilroy Medium" panose="00000600000000000000" charset="-52"/>
              </a:rPr>
              <a:t>Образовательная программа (профиль) «Веб-технологии»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152400" y="3163233"/>
            <a:ext cx="11887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Проектирование пользовательских интерфейсов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Контроль знаний (Задание 7.3)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5245240" y="5621387"/>
            <a:ext cx="6610501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Студент:  </a:t>
            </a:r>
            <a:r>
              <a:rPr lang="ru-RU" sz="1800" dirty="0" err="1">
                <a:latin typeface="Gilroy Medium" panose="00000600000000000000" charset="-52"/>
              </a:rPr>
              <a:t>Хужоков</a:t>
            </a:r>
            <a:r>
              <a:rPr lang="ru-RU" sz="1800" dirty="0">
                <a:latin typeface="Gilroy Medium" panose="00000600000000000000" charset="-52"/>
              </a:rPr>
              <a:t> Аскер </a:t>
            </a:r>
            <a:r>
              <a:rPr lang="ru-RU" sz="1800" dirty="0" err="1">
                <a:latin typeface="Gilroy Medium" panose="00000600000000000000" charset="-52"/>
              </a:rPr>
              <a:t>Жамболатович</a:t>
            </a:r>
            <a:r>
              <a:rPr lang="ru-RU" sz="1800" dirty="0">
                <a:latin typeface="Gilroy Medium" panose="00000600000000000000" charset="-52"/>
              </a:rPr>
              <a:t>, группа </a:t>
            </a:r>
            <a:r>
              <a:rPr lang="ru-RU" dirty="0">
                <a:latin typeface="Gilroy Medium" panose="00000600000000000000" charset="-52"/>
              </a:rPr>
              <a:t>241-3210</a:t>
            </a:r>
            <a:endParaRPr lang="ru-RU" sz="1800" dirty="0">
              <a:latin typeface="Gilroy Medium" panose="00000600000000000000" charset="-52"/>
            </a:endParaRP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solidFill>
                  <a:schemeClr val="tx1"/>
                </a:solidFill>
                <a:latin typeface="Gilroy Medium" panose="00000600000000000000" charset="-52"/>
              </a:rPr>
              <a:t>Преподаватели </a:t>
            </a:r>
            <a:r>
              <a:rPr lang="ru-RU" sz="1800" dirty="0">
                <a:latin typeface="Gilroy Medium" panose="00000600000000000000" charset="-52"/>
              </a:rPr>
              <a:t>Пухова Е.А. </a:t>
            </a:r>
            <a:r>
              <a:rPr lang="ru-RU" dirty="0">
                <a:solidFill>
                  <a:schemeClr val="tx1"/>
                </a:solidFill>
                <a:latin typeface="Gilroy Medium" panose="00000600000000000000" charset="-52"/>
              </a:rPr>
              <a:t>Натур В.В.</a:t>
            </a:r>
            <a:endParaRPr lang="ru-RU" sz="1800" dirty="0">
              <a:solidFill>
                <a:schemeClr val="tx1"/>
              </a:solidFill>
              <a:latin typeface="Gilroy Medium" panose="00000600000000000000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2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130029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Хужоков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Аскер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Жамболатович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  ППИ Контроль знаний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39753" y="855491"/>
            <a:ext cx="1124070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kumimoji="0" lang="ru-RU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Bold" panose="00000800000000000000" pitchFamily="2" charset="-52"/>
              <a:ea typeface="+mj-ea"/>
              <a:cs typeface="+mj-cs"/>
            </a:endParaRPr>
          </a:p>
          <a:p>
            <a:r>
              <a:rPr kumimoji="0" lang="ru-RU" sz="28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Вопрос </a:t>
            </a:r>
            <a:r>
              <a:rPr lang="en-US" sz="2800" dirty="0">
                <a:solidFill>
                  <a:schemeClr val="bg2">
                    <a:lumMod val="25000"/>
                  </a:schemeClr>
                </a:solidFill>
                <a:latin typeface="Gilroy Medium" panose="00000600000000000000" charset="-52"/>
                <a:ea typeface="+mj-ea"/>
                <a:cs typeface="+mj-cs"/>
              </a:rPr>
              <a:t>31</a:t>
            </a:r>
            <a:r>
              <a:rPr kumimoji="0" lang="ru-RU" sz="28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   Что такое тепловая карта интерфейса? Как она учитывается при проектировании дизайна интерфейса информационной системы?</a:t>
            </a:r>
          </a:p>
          <a:p>
            <a:endParaRPr lang="ru-RU" sz="2800" dirty="0">
              <a:latin typeface="Gilroy Medium" panose="00000600000000000000" charset="-52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ilroy Medium" panose="00000600000000000000" charset="-52"/>
              </a:rPr>
              <a:t>Вопрос </a:t>
            </a:r>
            <a:r>
              <a:rPr lang="ru-RU" sz="28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75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ilroy Medium" panose="00000600000000000000" charset="-52"/>
              </a:rPr>
              <a:t>   На каком этапе проектирования использования веб-сервиса важны мысли, эмоции, страхи и </a:t>
            </a:r>
            <a:r>
              <a:rPr kumimoji="0" lang="ru-RU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ilroy Medium" panose="00000600000000000000" charset="-52"/>
              </a:rPr>
              <a:t>ожидани</a:t>
            </a:r>
            <a:r>
              <a:rPr lang="ru-RU" sz="28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я пользователя. Анализ, исследование и результат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endParaRPr lang="ru-RU" sz="2800" dirty="0">
              <a:latin typeface="Gilroy Medium" panose="00000600000000000000" charset="-5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ilroy Medium" panose="00000600000000000000" charset="-52"/>
              </a:rPr>
              <a:t>Вопрос </a:t>
            </a:r>
            <a:r>
              <a:rPr lang="en-US" sz="28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78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ilroy Medium" panose="00000600000000000000" charset="-52"/>
              </a:rPr>
              <a:t>   </a:t>
            </a:r>
            <a:r>
              <a:rPr lang="ru-RU" sz="28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Цветовое решение сайтов с учётом аномалий цветового восприятия. Доступность Веб-контента </a:t>
            </a:r>
            <a:r>
              <a:rPr lang="en-US" sz="28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WCAG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3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201584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Хужоков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Аскер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Жамболатович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  ППИ Контроль знаний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39754" y="202564"/>
            <a:ext cx="98191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Bold" panose="00000800000000000000" pitchFamily="2" charset="-52"/>
                <a:ea typeface="+mj-ea"/>
                <a:cs typeface="+mj-cs"/>
              </a:rPr>
              <a:t>Вопрос 31  </a:t>
            </a:r>
            <a:r>
              <a:rPr kumimoji="0" lang="ru-RU" sz="24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Что такое тепловая карта интерфейса?</a:t>
            </a:r>
            <a:endParaRPr lang="ru-RU" sz="2400" dirty="0">
              <a:latin typeface="Gilroy Medium" panose="00000600000000000000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6F1A0B-9681-E780-E352-072B5FCBA98F}"/>
              </a:ext>
            </a:extLst>
          </p:cNvPr>
          <p:cNvSpPr txBox="1"/>
          <p:nvPr/>
        </p:nvSpPr>
        <p:spPr>
          <a:xfrm>
            <a:off x="339753" y="4451461"/>
            <a:ext cx="84344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chemeClr val="bg2">
                    <a:lumMod val="25000"/>
                  </a:schemeClr>
                </a:solidFill>
                <a:latin typeface="Gilroy Medium" panose="00000600000000000000" charset="-52"/>
                <a:ea typeface="+mj-ea"/>
                <a:cs typeface="+mj-cs"/>
              </a:rPr>
              <a:t>Тепловая карта сайта – это инструмент для аналитики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Gilroy Medium" panose="00000600000000000000" charset="-52"/>
                <a:ea typeface="+mj-ea"/>
                <a:cs typeface="+mj-cs"/>
              </a:rPr>
              <a:t>, который с помощью цветовой палитры рассказывает о поведении пользователя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Gilroy Medium" panose="00000600000000000000" charset="-52"/>
                <a:ea typeface="+mj-ea"/>
                <a:cs typeface="+mj-cs"/>
              </a:rPr>
              <a:t>. 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Gilroy Medium" panose="00000600000000000000" charset="-52"/>
                <a:ea typeface="+mj-ea"/>
                <a:cs typeface="+mj-cs"/>
              </a:rPr>
              <a:t>Это очень простой и эффективный способ восприятия такого вида информации.</a:t>
            </a:r>
            <a:endParaRPr lang="ru-RU" sz="1800" dirty="0">
              <a:latin typeface="Gilroy Medium" panose="00000600000000000000" charset="-52"/>
            </a:endParaRPr>
          </a:p>
        </p:txBody>
      </p:sp>
      <p:pic>
        <p:nvPicPr>
          <p:cNvPr id="1026" name="Picture 2" descr="Карта кликов Яндекс Метрики">
            <a:extLst>
              <a:ext uri="{FF2B5EF4-FFF2-40B4-BE49-F238E27FC236}">
                <a16:creationId xmlns:a16="http://schemas.microsoft.com/office/drawing/2014/main" id="{506FFC62-DAA7-9697-C036-5CEFC6876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54" y="866792"/>
            <a:ext cx="9819130" cy="348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794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4DF47-721C-DF3D-3544-F236A3DDF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A480D125-4D4C-5FB6-1208-8DA0FBBA971B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B8785B1-37C4-EDE9-303A-146368F5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4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54B6DD-0598-6C99-9427-50482FF00912}"/>
              </a:ext>
            </a:extLst>
          </p:cNvPr>
          <p:cNvSpPr txBox="1"/>
          <p:nvPr/>
        </p:nvSpPr>
        <p:spPr>
          <a:xfrm>
            <a:off x="201584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Хужоков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Аскер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Жамболатович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  ППИ Контроль знаний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1AC66D-14BE-ACD1-A5EE-B6DA464AA915}"/>
              </a:ext>
            </a:extLst>
          </p:cNvPr>
          <p:cNvSpPr txBox="1"/>
          <p:nvPr/>
        </p:nvSpPr>
        <p:spPr>
          <a:xfrm>
            <a:off x="339754" y="202564"/>
            <a:ext cx="98191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Bold" panose="00000800000000000000" pitchFamily="2" charset="-52"/>
                <a:ea typeface="+mj-ea"/>
                <a:cs typeface="+mj-cs"/>
              </a:rPr>
              <a:t>Вопрос 31  </a:t>
            </a:r>
            <a:r>
              <a:rPr kumimoji="0" lang="ru-RU" sz="24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Что такое тепловая карта интерфейса?</a:t>
            </a:r>
            <a:endParaRPr lang="ru-RU" sz="2400" dirty="0">
              <a:latin typeface="Gilroy Medium" panose="00000600000000000000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D57EB9-7413-E8CC-1C22-20C56CB01576}"/>
              </a:ext>
            </a:extLst>
          </p:cNvPr>
          <p:cNvSpPr txBox="1"/>
          <p:nvPr/>
        </p:nvSpPr>
        <p:spPr>
          <a:xfrm>
            <a:off x="5024176" y="783771"/>
            <a:ext cx="513470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Gilroy Medium" panose="00000600000000000000" charset="-52"/>
              </a:rPr>
              <a:t>Карта </a:t>
            </a:r>
            <a:r>
              <a:rPr lang="ru-RU" sz="1800" dirty="0" err="1">
                <a:latin typeface="Gilroy Medium" panose="00000600000000000000" charset="-52"/>
              </a:rPr>
              <a:t>скорллинга</a:t>
            </a:r>
            <a:r>
              <a:rPr lang="ru-RU" sz="1800" dirty="0">
                <a:latin typeface="Gilroy Medium" panose="00000600000000000000" charset="-52"/>
              </a:rPr>
              <a:t> – </a:t>
            </a:r>
            <a:r>
              <a:rPr lang="ru-RU" dirty="0">
                <a:latin typeface="Gilroy Medium" panose="00000600000000000000" charset="-52"/>
              </a:rPr>
              <a:t>инструмент, который показывает глубину прокрутки страницы. С его помощью вы можете:</a:t>
            </a:r>
          </a:p>
          <a:p>
            <a:endParaRPr lang="ru-RU" dirty="0">
              <a:latin typeface="Gilroy Medium" panose="00000600000000000000" charset="-52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latin typeface="Gilroy Medium" panose="00000600000000000000" charset="-52"/>
              </a:rPr>
              <a:t>Узнать оптимальную длину страницы вашего сайта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latin typeface="Gilroy Medium" panose="00000600000000000000" charset="-52"/>
              </a:rPr>
              <a:t>Определить место размещения баннеров и кнопок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latin typeface="Gilroy Medium" panose="00000600000000000000" charset="-52"/>
              </a:rPr>
              <a:t>Понять дочитыва</a:t>
            </a:r>
            <a:r>
              <a:rPr lang="ru-RU" dirty="0">
                <a:latin typeface="Gilroy Medium" panose="00000600000000000000" charset="-52"/>
              </a:rPr>
              <a:t>ют ли пользователи длинные текста до конца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latin typeface="Gilroy Medium" panose="00000600000000000000" charset="-52"/>
              </a:rPr>
              <a:t>Выбрать между пагинацией и бесконечной прокруткой</a:t>
            </a:r>
          </a:p>
          <a:p>
            <a:pPr marL="342900" indent="-342900">
              <a:buFont typeface="+mj-lt"/>
              <a:buAutoNum type="arabicPeriod"/>
            </a:pPr>
            <a:endParaRPr lang="ru-RU" dirty="0">
              <a:latin typeface="Gilroy Medium" panose="00000600000000000000" charset="-52"/>
            </a:endParaRPr>
          </a:p>
          <a:p>
            <a:r>
              <a:rPr lang="ru-RU" sz="1800" dirty="0">
                <a:latin typeface="Gilroy Medium" panose="00000600000000000000" charset="-52"/>
              </a:rPr>
              <a:t>Данные пункты на</a:t>
            </a:r>
            <a:r>
              <a:rPr lang="ru-RU" dirty="0">
                <a:latin typeface="Gilroy Medium" panose="00000600000000000000" charset="-52"/>
              </a:rPr>
              <a:t>прямую влияют на расположение блоков в проектируемом интерфейсе.</a:t>
            </a:r>
            <a:endParaRPr lang="ru-RU" sz="1800" dirty="0">
              <a:latin typeface="Gilroy Medium" panose="00000600000000000000" charset="-52"/>
            </a:endParaRPr>
          </a:p>
        </p:txBody>
      </p:sp>
      <p:pic>
        <p:nvPicPr>
          <p:cNvPr id="2050" name="Picture 2" descr="Карта прокрутки">
            <a:extLst>
              <a:ext uri="{FF2B5EF4-FFF2-40B4-BE49-F238E27FC236}">
                <a16:creationId xmlns:a16="http://schemas.microsoft.com/office/drawing/2014/main" id="{8528D727-6EC5-91E8-4029-E56E98014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54" y="783771"/>
            <a:ext cx="4684422" cy="5670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9262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FF005-1A5F-B3D3-5311-027526CAD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D335442-F776-064B-8713-79E3F740A1EC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CF6A376-8D3B-A726-5048-0CB4B54FB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5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F38D9D-F107-A0AF-D910-57F6DAE3F1BD}"/>
              </a:ext>
            </a:extLst>
          </p:cNvPr>
          <p:cNvSpPr txBox="1"/>
          <p:nvPr/>
        </p:nvSpPr>
        <p:spPr>
          <a:xfrm>
            <a:off x="201584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Хужоков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Аскер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Жамболатович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  ППИ Контроль знаний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CD2D5E-8B36-F85E-F268-358CF948E3E6}"/>
              </a:ext>
            </a:extLst>
          </p:cNvPr>
          <p:cNvSpPr txBox="1"/>
          <p:nvPr/>
        </p:nvSpPr>
        <p:spPr>
          <a:xfrm>
            <a:off x="339754" y="202564"/>
            <a:ext cx="98191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Bold" panose="00000800000000000000" pitchFamily="2" charset="-52"/>
                <a:ea typeface="+mj-ea"/>
                <a:cs typeface="+mj-cs"/>
              </a:rPr>
              <a:t>Вопрос 31  </a:t>
            </a:r>
            <a:r>
              <a:rPr kumimoji="0" lang="ru-RU" sz="24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Что такое тепловая карта интерфейса?</a:t>
            </a:r>
            <a:endParaRPr lang="ru-RU" sz="2400" dirty="0">
              <a:latin typeface="Gilroy Medium" panose="00000600000000000000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6D9914-D6F0-5915-B67C-BDF95AA95997}"/>
              </a:ext>
            </a:extLst>
          </p:cNvPr>
          <p:cNvSpPr txBox="1"/>
          <p:nvPr/>
        </p:nvSpPr>
        <p:spPr>
          <a:xfrm>
            <a:off x="6514316" y="1136333"/>
            <a:ext cx="513470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Gilroy Medium" panose="00000600000000000000" charset="-52"/>
              </a:rPr>
              <a:t>Карта </a:t>
            </a:r>
            <a:r>
              <a:rPr lang="ru-RU" dirty="0">
                <a:latin typeface="Gilroy Medium" panose="00000600000000000000" charset="-52"/>
              </a:rPr>
              <a:t>активности мыши</a:t>
            </a:r>
            <a:r>
              <a:rPr lang="ru-RU" sz="1800" dirty="0">
                <a:latin typeface="Gilroy Medium" panose="00000600000000000000" charset="-52"/>
              </a:rPr>
              <a:t> – </a:t>
            </a:r>
            <a:r>
              <a:rPr lang="ru-RU" dirty="0">
                <a:latin typeface="Gilroy Medium" panose="00000600000000000000" charset="-52"/>
              </a:rPr>
              <a:t>выделяет области, на которые пользователь наводит курсор. Это позволяет увидеть какая информация интересует посетителей страницы.</a:t>
            </a:r>
          </a:p>
          <a:p>
            <a:endParaRPr lang="ru-RU" sz="1800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Однако это не самый точный способ для вычисления метрики</a:t>
            </a:r>
            <a:r>
              <a:rPr lang="en-US" dirty="0">
                <a:latin typeface="Gilroy Medium" panose="00000600000000000000" charset="-52"/>
              </a:rPr>
              <a:t> </a:t>
            </a:r>
            <a:r>
              <a:rPr lang="ru-RU" dirty="0">
                <a:latin typeface="Gilroy Medium" panose="00000600000000000000" charset="-52"/>
              </a:rPr>
              <a:t>о том, что важнее всего для пользователя, так как пользователь не всегда наводит курсор на ту информацию, которую изучает.</a:t>
            </a:r>
          </a:p>
          <a:p>
            <a:endParaRPr lang="ru-RU" sz="1800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Таким образом с помощью этой карты так же можно понять, где лучше всего располагать элементы на странице</a:t>
            </a:r>
            <a:r>
              <a:rPr lang="en-US" dirty="0">
                <a:latin typeface="Gilroy Medium" panose="00000600000000000000" charset="-52"/>
              </a:rPr>
              <a:t>, </a:t>
            </a:r>
            <a:r>
              <a:rPr lang="ru-RU" dirty="0">
                <a:latin typeface="Gilroy Medium" panose="00000600000000000000" charset="-52"/>
              </a:rPr>
              <a:t>но есть более точный способ</a:t>
            </a:r>
            <a:endParaRPr lang="ru-RU" sz="1800" dirty="0">
              <a:latin typeface="Gilroy Medium" panose="00000600000000000000" charset="-52"/>
            </a:endParaRPr>
          </a:p>
        </p:txBody>
      </p:sp>
      <p:pic>
        <p:nvPicPr>
          <p:cNvPr id="3074" name="Picture 2" descr="Карта активности мыши">
            <a:extLst>
              <a:ext uri="{FF2B5EF4-FFF2-40B4-BE49-F238E27FC236}">
                <a16:creationId xmlns:a16="http://schemas.microsoft.com/office/drawing/2014/main" id="{5923BD36-2266-11F3-E373-5ACB30D3C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54" y="1206671"/>
            <a:ext cx="6174562" cy="486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9628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85238-0CDA-1E56-0156-AE59EBFA9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9FCCA75-F906-C5F0-E560-904FD5678A7A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2282ED3-F9E7-51BF-3BC1-EE5CBB2AC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6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B08DE1-E825-9263-2B5D-01D75D9BC958}"/>
              </a:ext>
            </a:extLst>
          </p:cNvPr>
          <p:cNvSpPr txBox="1"/>
          <p:nvPr/>
        </p:nvSpPr>
        <p:spPr>
          <a:xfrm>
            <a:off x="201584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Хужоков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Аскер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Жамболатович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  ППИ Контроль знаний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FEABF1-3B32-719F-F70A-3945CD7EE679}"/>
              </a:ext>
            </a:extLst>
          </p:cNvPr>
          <p:cNvSpPr txBox="1"/>
          <p:nvPr/>
        </p:nvSpPr>
        <p:spPr>
          <a:xfrm>
            <a:off x="339754" y="202564"/>
            <a:ext cx="98191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Bold" panose="00000800000000000000" pitchFamily="2" charset="-52"/>
                <a:ea typeface="+mj-ea"/>
                <a:cs typeface="+mj-cs"/>
              </a:rPr>
              <a:t>Вопрос 31  </a:t>
            </a:r>
            <a:r>
              <a:rPr kumimoji="0" lang="ru-RU" sz="24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Что такое тепловая карта интерфейса?</a:t>
            </a:r>
            <a:endParaRPr lang="ru-RU" sz="2400" dirty="0">
              <a:latin typeface="Gilroy Medium" panose="00000600000000000000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0868C1-056B-90AE-02C2-53A7198D60F3}"/>
              </a:ext>
            </a:extLst>
          </p:cNvPr>
          <p:cNvSpPr txBox="1"/>
          <p:nvPr/>
        </p:nvSpPr>
        <p:spPr>
          <a:xfrm>
            <a:off x="6096000" y="2478095"/>
            <a:ext cx="513470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Gilroy Medium" panose="00000600000000000000" charset="-52"/>
              </a:rPr>
              <a:t>Карта </a:t>
            </a:r>
            <a:r>
              <a:rPr lang="ru-RU" dirty="0">
                <a:latin typeface="Gilroy Medium" panose="00000600000000000000" charset="-52"/>
              </a:rPr>
              <a:t>кликов </a:t>
            </a:r>
            <a:r>
              <a:rPr lang="ru-RU" sz="1800" dirty="0">
                <a:latin typeface="Gilroy Medium" panose="00000600000000000000" charset="-52"/>
              </a:rPr>
              <a:t>– </a:t>
            </a:r>
            <a:r>
              <a:rPr lang="ru-RU" dirty="0">
                <a:latin typeface="Gilroy Medium" panose="00000600000000000000" charset="-52"/>
              </a:rPr>
              <a:t>выделяет области, на которые пользователь нажимает мышью. Это позволяет увидеть, что интересует пользователя и отследить его перемещения на другие страницы. Понять, как часто переходят по каким-либо ссылкам на сайте</a:t>
            </a:r>
          </a:p>
          <a:p>
            <a:endParaRPr lang="ru-RU" sz="1800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Данный вид тепловой карты наиболее важный после карты скроллинга, так как он более точный, чем карта активности мыши пользователя и широко используется для определения лучшего расположения блоков на сайте.</a:t>
            </a:r>
            <a:endParaRPr lang="ru-RU" sz="1800" dirty="0">
              <a:latin typeface="Gilroy Medium" panose="00000600000000000000" charset="-52"/>
            </a:endParaRPr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644F90A5-09CF-9AA1-1526-9C5260020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15401"/>
            <a:ext cx="5554641" cy="3004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9488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051D4-29CA-F9EC-5E35-E8B40001F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719BE059-7601-D06E-D3BA-069450D16A61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7164233-3188-A665-AFB8-8FBA06BC5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7</a:t>
            </a:fld>
            <a:endParaRPr lang="ru-RU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0D5488-D496-28A5-8111-EBCC508AB29D}"/>
              </a:ext>
            </a:extLst>
          </p:cNvPr>
          <p:cNvSpPr txBox="1"/>
          <p:nvPr/>
        </p:nvSpPr>
        <p:spPr>
          <a:xfrm>
            <a:off x="201584" y="6476863"/>
            <a:ext cx="8434457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Хужоков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Аскер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Жамболатович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  ППИ Контроль знаний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FC300A-1279-CF4E-CA8C-C51C3DD81367}"/>
              </a:ext>
            </a:extLst>
          </p:cNvPr>
          <p:cNvSpPr txBox="1"/>
          <p:nvPr/>
        </p:nvSpPr>
        <p:spPr>
          <a:xfrm>
            <a:off x="339754" y="202564"/>
            <a:ext cx="98191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Bold" panose="00000800000000000000" pitchFamily="2" charset="-52"/>
                <a:ea typeface="+mj-ea"/>
                <a:cs typeface="+mj-cs"/>
              </a:rPr>
              <a:t>Вопрос 31  </a:t>
            </a:r>
            <a:r>
              <a:rPr kumimoji="0" lang="ru-RU" sz="240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Что такое тепловая карта интерфейса?</a:t>
            </a:r>
            <a:endParaRPr lang="ru-RU" sz="2400" dirty="0">
              <a:latin typeface="Gilroy Medium" panose="00000600000000000000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87EF84-01E5-7F2D-9925-E0D6DAD1676D}"/>
              </a:ext>
            </a:extLst>
          </p:cNvPr>
          <p:cNvSpPr txBox="1"/>
          <p:nvPr/>
        </p:nvSpPr>
        <p:spPr>
          <a:xfrm>
            <a:off x="4418812" y="1909398"/>
            <a:ext cx="569441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Gilroy Medium" panose="00000600000000000000" charset="-52"/>
              </a:rPr>
              <a:t>Вывод - тепловые карты это важно!</a:t>
            </a:r>
            <a:r>
              <a:rPr lang="en-US" sz="2400" b="1" dirty="0">
                <a:latin typeface="Gilroy Medium" panose="00000600000000000000" charset="-52"/>
              </a:rPr>
              <a:t> </a:t>
            </a:r>
            <a:r>
              <a:rPr lang="ru-RU" sz="2000" dirty="0">
                <a:latin typeface="Gilroy Medium" panose="00000600000000000000" charset="-52"/>
              </a:rPr>
              <a:t>Используйте подходящую для ваших целей тепловую карту</a:t>
            </a:r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418E7D42-3C8C-18D9-FEAB-47A4306E0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54" y="779714"/>
            <a:ext cx="3950443" cy="2136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213E891A-8578-DB49-4473-A35448BFA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4117" y="3199889"/>
            <a:ext cx="2576912" cy="2031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Карта прокрутки">
            <a:extLst>
              <a:ext uri="{FF2B5EF4-FFF2-40B4-BE49-F238E27FC236}">
                <a16:creationId xmlns:a16="http://schemas.microsoft.com/office/drawing/2014/main" id="{A693DBD0-48A2-B44A-FD4E-C322516AF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068" y="3117634"/>
            <a:ext cx="2609042" cy="3158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296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16986" y="6186956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8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255865" y="256515"/>
            <a:ext cx="87371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Gilroy Bold" panose="00000800000000000000" pitchFamily="2" charset="-52"/>
                <a:ea typeface="+mj-ea"/>
                <a:cs typeface="+mj-cs"/>
              </a:rPr>
              <a:t>Вопрос 75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ilroy Medium" panose="00000600000000000000" charset="-52"/>
              </a:rPr>
              <a:t>На каком этапе проектирования использования Веб-сервиса важны мысли, эмоции, страхи и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ilroy Medium" panose="00000600000000000000" charset="-52"/>
              </a:rPr>
              <a:t>ожидани</a:t>
            </a:r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я пользователя</a:t>
            </a:r>
            <a:endParaRPr lang="ru-RU" sz="2400" dirty="0">
              <a:solidFill>
                <a:schemeClr val="bg2">
                  <a:lumMod val="25000"/>
                </a:schemeClr>
              </a:solidFill>
              <a:latin typeface="Gilroy Medium" panose="00000600000000000000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E8C6BD-D95E-4822-B09A-435E67225EB0}"/>
              </a:ext>
            </a:extLst>
          </p:cNvPr>
          <p:cNvSpPr txBox="1"/>
          <p:nvPr/>
        </p:nvSpPr>
        <p:spPr>
          <a:xfrm>
            <a:off x="108505" y="6460516"/>
            <a:ext cx="10916724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Хужоков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Аскер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Жамболатович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  ППИ Контроль знаний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3757EB-A967-775D-F1E3-D25B3621B801}"/>
              </a:ext>
            </a:extLst>
          </p:cNvPr>
          <p:cNvSpPr txBox="1"/>
          <p:nvPr/>
        </p:nvSpPr>
        <p:spPr>
          <a:xfrm>
            <a:off x="5369445" y="1145512"/>
            <a:ext cx="601533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ilroy Medium" panose="00000600000000000000" charset="-52"/>
              </a:rPr>
              <a:t>Эмоции пользователя наиболее важны на следующих этапах проектирования </a:t>
            </a:r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использования веб-сервиса:</a:t>
            </a:r>
          </a:p>
          <a:p>
            <a:endParaRPr lang="en-US" sz="2000" dirty="0">
              <a:solidFill>
                <a:srgbClr val="E7E6E6">
                  <a:lumMod val="25000"/>
                </a:srgbClr>
              </a:solidFill>
              <a:latin typeface="Gilroy Medium" panose="00000600000000000000" charset="-52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Исследование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Анализ</a:t>
            </a:r>
            <a:endParaRPr lang="en-US" sz="2000" dirty="0">
              <a:solidFill>
                <a:srgbClr val="E7E6E6">
                  <a:lumMod val="25000"/>
                </a:srgbClr>
              </a:solidFill>
              <a:latin typeface="Gilroy Medium" panose="00000600000000000000" charset="-52"/>
            </a:endParaRPr>
          </a:p>
          <a:p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ilroy Medium" panose="00000600000000000000" charset="-52"/>
              </a:rPr>
              <a:t>Именно эти этапы больше всего влияют на итоговый интерфейс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В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ilroy Medium" panose="00000600000000000000" charset="-52"/>
              </a:rPr>
              <a:t>еб-сервиса.</a:t>
            </a:r>
            <a:endParaRPr lang="ru-RU" sz="2400" dirty="0">
              <a:solidFill>
                <a:schemeClr val="bg2">
                  <a:lumMod val="25000"/>
                </a:schemeClr>
              </a:solidFill>
              <a:latin typeface="Gilroy Medium" panose="00000600000000000000" charset="-52"/>
            </a:endParaRPr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028F9745-E3F6-CF3E-02D4-79F0CCA78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50" y="1220915"/>
            <a:ext cx="4898570" cy="4898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4729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1F228-2A14-E76E-2670-DB026D670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1BCE593F-B89D-9560-E879-7C0CA583A419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A843DA1-26DA-867B-3064-6EEF002AE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6986" y="6186956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9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397795-DC31-24BD-932F-6CD548C9E055}"/>
              </a:ext>
            </a:extLst>
          </p:cNvPr>
          <p:cNvSpPr txBox="1"/>
          <p:nvPr/>
        </p:nvSpPr>
        <p:spPr>
          <a:xfrm>
            <a:off x="255865" y="256515"/>
            <a:ext cx="87371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Gilroy Bold" panose="00000800000000000000" pitchFamily="2" charset="-52"/>
                <a:ea typeface="+mj-ea"/>
                <a:cs typeface="+mj-cs"/>
              </a:rPr>
              <a:t>Вопрос 75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ilroy Medium" panose="00000600000000000000" charset="-52"/>
              </a:rPr>
              <a:t>На каком этапе проектирования использования Веб-сервиса важны мысли, эмоции, страхи и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ilroy Medium" panose="00000600000000000000" charset="-52"/>
              </a:rPr>
              <a:t>ожидани</a:t>
            </a:r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я пользователя</a:t>
            </a:r>
            <a:endParaRPr lang="ru-RU" sz="2400" dirty="0">
              <a:solidFill>
                <a:schemeClr val="bg2">
                  <a:lumMod val="25000"/>
                </a:schemeClr>
              </a:solidFill>
              <a:latin typeface="Gilroy Medium" panose="00000600000000000000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ED3444-49B5-2B74-3FB2-7FBBF453964D}"/>
              </a:ext>
            </a:extLst>
          </p:cNvPr>
          <p:cNvSpPr txBox="1"/>
          <p:nvPr/>
        </p:nvSpPr>
        <p:spPr>
          <a:xfrm>
            <a:off x="108505" y="6460516"/>
            <a:ext cx="10916724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Хужоков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Аскер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Жамболатович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  ППИ Контроль знаний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76ED60-C799-ADF9-3CDF-3613602415F7}"/>
              </a:ext>
            </a:extLst>
          </p:cNvPr>
          <p:cNvSpPr txBox="1"/>
          <p:nvPr/>
        </p:nvSpPr>
        <p:spPr>
          <a:xfrm>
            <a:off x="7469656" y="1452950"/>
            <a:ext cx="456826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Для того, чтобы понять, что чувствует пользователь во время использования веб-сервиса, необходимо делать следующее:</a:t>
            </a:r>
          </a:p>
          <a:p>
            <a:endParaRPr lang="ru-RU" sz="2000" dirty="0">
              <a:solidFill>
                <a:srgbClr val="E7E6E6">
                  <a:lumMod val="25000"/>
                </a:srgbClr>
              </a:solidFill>
              <a:latin typeface="Gilroy Medium" panose="00000600000000000000" charset="-52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Проводить глубинные интервью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Составить </a:t>
            </a:r>
            <a:r>
              <a:rPr lang="en-US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Customer Journey Map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Карта эмпатии</a:t>
            </a:r>
            <a:endParaRPr lang="en-US" sz="2000" dirty="0">
              <a:solidFill>
                <a:srgbClr val="E7E6E6">
                  <a:lumMod val="25000"/>
                </a:srgbClr>
              </a:solidFill>
              <a:latin typeface="Gilroy Medium" panose="00000600000000000000" charset="-52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solidFill>
                <a:srgbClr val="E7E6E6">
                  <a:lumMod val="25000"/>
                </a:srgbClr>
              </a:solidFill>
              <a:latin typeface="Gilroy Medium" panose="00000600000000000000" charset="-52"/>
            </a:endParaRPr>
          </a:p>
          <a:p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Это поможет понять слабые и сильные стороны Веб-сервиса</a:t>
            </a:r>
            <a:r>
              <a:rPr lang="en-US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.</a:t>
            </a:r>
          </a:p>
        </p:txBody>
      </p:sp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328CBBBB-6866-D482-AE89-A1CDEC871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65" y="1163009"/>
            <a:ext cx="7213791" cy="405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345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C8190-848C-A18E-01E8-501A70263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F8943F4F-B79A-E194-3A88-A6902CBE0B89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EA8F51B-6B9A-C191-65CC-82E38684D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815" y="6186956"/>
            <a:ext cx="743135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10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860897-D483-5C10-E28B-C0B1A5EB43E5}"/>
              </a:ext>
            </a:extLst>
          </p:cNvPr>
          <p:cNvSpPr txBox="1"/>
          <p:nvPr/>
        </p:nvSpPr>
        <p:spPr>
          <a:xfrm>
            <a:off x="255865" y="256515"/>
            <a:ext cx="87371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Gilroy Bold" panose="00000800000000000000" pitchFamily="2" charset="-52"/>
                <a:ea typeface="+mj-ea"/>
                <a:cs typeface="+mj-cs"/>
              </a:rPr>
              <a:t>Вопрос 75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ilroy Medium" panose="00000600000000000000" charset="-52"/>
              </a:rPr>
              <a:t>На каком этапе проектирования использования Веб-сервиса важны мысли, эмоции, страхи и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ilroy Medium" panose="00000600000000000000" charset="-52"/>
              </a:rPr>
              <a:t>ожидани</a:t>
            </a:r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я пользователя</a:t>
            </a:r>
            <a:endParaRPr lang="ru-RU" sz="2400" dirty="0">
              <a:solidFill>
                <a:schemeClr val="bg2">
                  <a:lumMod val="25000"/>
                </a:schemeClr>
              </a:solidFill>
              <a:latin typeface="Gilroy Medium" panose="00000600000000000000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F08861-371D-3785-8EB7-C2FE50A87870}"/>
              </a:ext>
            </a:extLst>
          </p:cNvPr>
          <p:cNvSpPr txBox="1"/>
          <p:nvPr/>
        </p:nvSpPr>
        <p:spPr>
          <a:xfrm>
            <a:off x="108505" y="6460516"/>
            <a:ext cx="10916724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Хужоков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Аскер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Жамболатович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  ППИ Контроль знаний </a:t>
            </a:r>
          </a:p>
        </p:txBody>
      </p:sp>
      <p:pic>
        <p:nvPicPr>
          <p:cNvPr id="8194" name="Picture 2" descr="Picture background">
            <a:extLst>
              <a:ext uri="{FF2B5EF4-FFF2-40B4-BE49-F238E27FC236}">
                <a16:creationId xmlns:a16="http://schemas.microsoft.com/office/drawing/2014/main" id="{F417C86B-040F-CE74-72CC-5632900A6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431" y="964401"/>
            <a:ext cx="5680867" cy="4652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1E7207-47B2-1883-C3A0-66143C9C2715}"/>
              </a:ext>
            </a:extLst>
          </p:cNvPr>
          <p:cNvSpPr txBox="1"/>
          <p:nvPr/>
        </p:nvSpPr>
        <p:spPr>
          <a:xfrm>
            <a:off x="4514952" y="5616788"/>
            <a:ext cx="21038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ilroy Medium" panose="00000600000000000000" charset="-52"/>
              </a:rPr>
              <a:t>Карта эмпатии</a:t>
            </a:r>
            <a:endParaRPr lang="ru-RU" sz="2400" dirty="0">
              <a:solidFill>
                <a:schemeClr val="bg2">
                  <a:lumMod val="25000"/>
                </a:schemeClr>
              </a:solidFill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91371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34791-AC11-CA5F-AC77-AC463A006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19A1A2AB-EF42-14B3-DCD8-BB96CC66FC0A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D91EDD1-196F-189D-62F7-79EBF0B7D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4976" y="6186956"/>
            <a:ext cx="50197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11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032B80-B2DF-928C-DB8A-169EF931F170}"/>
              </a:ext>
            </a:extLst>
          </p:cNvPr>
          <p:cNvSpPr txBox="1"/>
          <p:nvPr/>
        </p:nvSpPr>
        <p:spPr>
          <a:xfrm>
            <a:off x="255865" y="256515"/>
            <a:ext cx="87371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2">
                    <a:lumMod val="25000"/>
                  </a:schemeClr>
                </a:solidFill>
                <a:latin typeface="Gilroy Bold" panose="00000800000000000000" pitchFamily="2" charset="-52"/>
                <a:ea typeface="+mj-ea"/>
                <a:cs typeface="+mj-cs"/>
              </a:rPr>
              <a:t>Вопрос 75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ilroy Medium" panose="00000600000000000000" charset="-52"/>
              </a:rPr>
              <a:t>На каком этапе проектирования использования Веб-сервиса важны мысли, эмоции, страхи и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ilroy Medium" panose="00000600000000000000" charset="-52"/>
              </a:rPr>
              <a:t>ожидани</a:t>
            </a:r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я пользователя</a:t>
            </a:r>
            <a:endParaRPr lang="ru-RU" sz="2400" dirty="0">
              <a:solidFill>
                <a:schemeClr val="bg2">
                  <a:lumMod val="25000"/>
                </a:schemeClr>
              </a:solidFill>
              <a:latin typeface="Gilroy Medium" panose="00000600000000000000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1ABF7F-159F-6B4F-330A-5852AEB47729}"/>
              </a:ext>
            </a:extLst>
          </p:cNvPr>
          <p:cNvSpPr txBox="1"/>
          <p:nvPr/>
        </p:nvSpPr>
        <p:spPr>
          <a:xfrm>
            <a:off x="108505" y="6460516"/>
            <a:ext cx="10916724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Хужоков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Аскер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Жамболатович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  ППИ Контроль знаний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FE5E74-BF2B-828C-B276-7E87868F015F}"/>
              </a:ext>
            </a:extLst>
          </p:cNvPr>
          <p:cNvSpPr txBox="1"/>
          <p:nvPr/>
        </p:nvSpPr>
        <p:spPr>
          <a:xfrm>
            <a:off x="1727433" y="3075057"/>
            <a:ext cx="87371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Вывод - анализ эмоций это очень важный и хороший инструмент, для построения действительного удобного интерфейса</a:t>
            </a:r>
            <a:endParaRPr lang="ru-RU" sz="2400" dirty="0">
              <a:solidFill>
                <a:schemeClr val="bg2">
                  <a:lumMod val="25000"/>
                </a:schemeClr>
              </a:solidFill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576660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B814B-314B-FFFF-F3CB-AA2808FB6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717C3855-753A-F34C-4046-719BD9438C3B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13F5F64-2C1D-A4B1-0293-8B727B9F9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445" y="6134487"/>
            <a:ext cx="558526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12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3FE32D-80EA-5178-0CAA-62C0FFB54782}"/>
              </a:ext>
            </a:extLst>
          </p:cNvPr>
          <p:cNvSpPr txBox="1"/>
          <p:nvPr/>
        </p:nvSpPr>
        <p:spPr>
          <a:xfrm>
            <a:off x="331365" y="324896"/>
            <a:ext cx="9978705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prstClr val="black"/>
                </a:solidFill>
                <a:latin typeface="Gilroy Bold" panose="00000800000000000000" charset="-52"/>
                <a:ea typeface="+mj-ea"/>
                <a:cs typeface="+mj-cs"/>
              </a:rPr>
              <a:t>Вопрос 78 </a:t>
            </a:r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Цветовое решение сайтов с учётом аномалий цветового восприятия. Доступность Веб-контента </a:t>
            </a:r>
            <a:r>
              <a:rPr lang="en-US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WCAG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95CB06-B3DC-8D69-37D7-72EF22B759BA}"/>
              </a:ext>
            </a:extLst>
          </p:cNvPr>
          <p:cNvSpPr txBox="1"/>
          <p:nvPr/>
        </p:nvSpPr>
        <p:spPr>
          <a:xfrm>
            <a:off x="149377" y="6463449"/>
            <a:ext cx="7633733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Хужоков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Аскер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Жамболатович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  ППИ Контроль знаний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FFDF8E-DA97-224F-A52F-A2EECCD51FBD}"/>
              </a:ext>
            </a:extLst>
          </p:cNvPr>
          <p:cNvSpPr txBox="1"/>
          <p:nvPr/>
        </p:nvSpPr>
        <p:spPr>
          <a:xfrm>
            <a:off x="704395" y="1685981"/>
            <a:ext cx="99787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ilroy Medium" panose="00000600000000000000" charset="-52"/>
              </a:rPr>
              <a:t>Почему цвет</a:t>
            </a:r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а это очень важно ?</a:t>
            </a:r>
            <a:r>
              <a:rPr lang="en-US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 </a:t>
            </a:r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По некоторым данным, тем или иным нарушением цветового восприятия страдает </a:t>
            </a:r>
            <a:r>
              <a:rPr lang="ru-RU" sz="2000" b="1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до 10</a:t>
            </a:r>
            <a:r>
              <a:rPr lang="en-US" sz="2000" b="1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% </a:t>
            </a:r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людей.</a:t>
            </a:r>
            <a:endParaRPr lang="ru-RU" dirty="0"/>
          </a:p>
        </p:txBody>
      </p:sp>
      <p:pic>
        <p:nvPicPr>
          <p:cNvPr id="11266" name="Picture 2" descr="Picture background">
            <a:extLst>
              <a:ext uri="{FF2B5EF4-FFF2-40B4-BE49-F238E27FC236}">
                <a16:creationId xmlns:a16="http://schemas.microsoft.com/office/drawing/2014/main" id="{467E5710-315D-AEF8-F972-6E338F3C3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395" y="2619561"/>
            <a:ext cx="9855639" cy="2653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1431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284299" y="6134487"/>
            <a:ext cx="588671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13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331365" y="324896"/>
            <a:ext cx="9978705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prstClr val="black"/>
                </a:solidFill>
                <a:latin typeface="Gilroy Bold" panose="00000800000000000000" charset="-52"/>
                <a:ea typeface="+mj-ea"/>
                <a:cs typeface="+mj-cs"/>
              </a:rPr>
              <a:t>Вопрос 78 </a:t>
            </a:r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Цветовое решение сайтов с учётом аномалий цветового восприятия. Доступность Веб-контента </a:t>
            </a:r>
            <a:r>
              <a:rPr lang="en-US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WCAG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BE14B-182A-4966-B033-9B3029F87F3A}"/>
              </a:ext>
            </a:extLst>
          </p:cNvPr>
          <p:cNvSpPr txBox="1"/>
          <p:nvPr/>
        </p:nvSpPr>
        <p:spPr>
          <a:xfrm>
            <a:off x="149377" y="6463449"/>
            <a:ext cx="7633733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Хужоков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Аскер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Жамболатович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  ППИ Контроль знаний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CDDB1C-4AE4-5DA2-E12A-126542B0082C}"/>
              </a:ext>
            </a:extLst>
          </p:cNvPr>
          <p:cNvSpPr txBox="1"/>
          <p:nvPr/>
        </p:nvSpPr>
        <p:spPr>
          <a:xfrm>
            <a:off x="331365" y="1125114"/>
            <a:ext cx="76337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Как выбрать цвета с учётом этих перечисленных аномалий?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555A4E-D0B1-4934-145A-AE47B3AC1422}"/>
              </a:ext>
            </a:extLst>
          </p:cNvPr>
          <p:cNvSpPr txBox="1"/>
          <p:nvPr/>
        </p:nvSpPr>
        <p:spPr>
          <a:xfrm>
            <a:off x="331365" y="1617556"/>
            <a:ext cx="76337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WCAG – </a:t>
            </a:r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набор технических стандартов, разработанных для обеспечения доступности веб-контента.</a:t>
            </a:r>
            <a:endParaRPr lang="ru-RU" dirty="0"/>
          </a:p>
        </p:txBody>
      </p:sp>
      <p:pic>
        <p:nvPicPr>
          <p:cNvPr id="11272" name="Picture 8" descr="Picture background">
            <a:extLst>
              <a:ext uri="{FF2B5EF4-FFF2-40B4-BE49-F238E27FC236}">
                <a16:creationId xmlns:a16="http://schemas.microsoft.com/office/drawing/2014/main" id="{49530D31-DD34-1DBF-9F6A-76A2AF843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517" y="2457639"/>
            <a:ext cx="6802965" cy="3873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5340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5F046-BF62-D8E5-4E99-6247281E5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5EC973D-F5C6-658B-68F3-5E8A51EF7540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01ADB67-41F7-0D8D-C02D-5E46FBE87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4347" y="6134487"/>
            <a:ext cx="578624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14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840DFE-E94C-BDC9-958B-CC968547F603}"/>
              </a:ext>
            </a:extLst>
          </p:cNvPr>
          <p:cNvSpPr txBox="1"/>
          <p:nvPr/>
        </p:nvSpPr>
        <p:spPr>
          <a:xfrm>
            <a:off x="331365" y="324896"/>
            <a:ext cx="9978705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prstClr val="black"/>
                </a:solidFill>
                <a:latin typeface="Gilroy Bold" panose="00000800000000000000" charset="-52"/>
                <a:ea typeface="+mj-ea"/>
                <a:cs typeface="+mj-cs"/>
              </a:rPr>
              <a:t>Вопрос 78 </a:t>
            </a:r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Цветовое решение сайтов с учётом аномалий цветового восприятия. Доступность Веб-контента </a:t>
            </a:r>
            <a:r>
              <a:rPr lang="en-US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WCAG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028F5E-9E0F-9AFE-322A-200A319CC49F}"/>
              </a:ext>
            </a:extLst>
          </p:cNvPr>
          <p:cNvSpPr txBox="1"/>
          <p:nvPr/>
        </p:nvSpPr>
        <p:spPr>
          <a:xfrm>
            <a:off x="149377" y="6463449"/>
            <a:ext cx="7633733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Хужоков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Аскер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Жамболатович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  ППИ Контроль знаний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5C489C-24E0-60F1-AE21-57DE0CCED933}"/>
              </a:ext>
            </a:extLst>
          </p:cNvPr>
          <p:cNvSpPr txBox="1"/>
          <p:nvPr/>
        </p:nvSpPr>
        <p:spPr>
          <a:xfrm>
            <a:off x="2279133" y="2321004"/>
            <a:ext cx="7633734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Самые важные правила доступного веб-сервиса:</a:t>
            </a:r>
          </a:p>
          <a:p>
            <a:pPr algn="ctr"/>
            <a:endParaRPr lang="ru-RU" sz="2000" dirty="0">
              <a:solidFill>
                <a:srgbClr val="E7E6E6">
                  <a:lumMod val="25000"/>
                </a:srgbClr>
              </a:solidFill>
              <a:latin typeface="Gilroy Medium" panose="00000600000000000000" charset="-52"/>
            </a:endParaRPr>
          </a:p>
          <a:p>
            <a:pPr marL="457200" indent="-457200" algn="ctr">
              <a:buFont typeface="+mj-lt"/>
              <a:buAutoNum type="arabicPeriod"/>
            </a:pPr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Цвет не должен быть единственным визуальным средством передачи информации.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Соблюдение требований к минимальному уровню контрастности между текстом и фоном</a:t>
            </a:r>
          </a:p>
          <a:p>
            <a:pPr marL="342900" indent="-342900" algn="ctr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1902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BD5FC-EA24-E30F-4BDA-3C3A805B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3791BEC-F11B-6D4B-2987-FBB2F293946B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48F07B6-4D0A-C1B2-CBCF-0BE8897B4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4057" y="6134487"/>
            <a:ext cx="63891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15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75AE28-53C0-1B3F-1F60-0F37141DE6D1}"/>
              </a:ext>
            </a:extLst>
          </p:cNvPr>
          <p:cNvSpPr txBox="1"/>
          <p:nvPr/>
        </p:nvSpPr>
        <p:spPr>
          <a:xfrm>
            <a:off x="331365" y="324896"/>
            <a:ext cx="9978705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prstClr val="black"/>
                </a:solidFill>
                <a:latin typeface="Gilroy Bold" panose="00000800000000000000" charset="-52"/>
                <a:ea typeface="+mj-ea"/>
                <a:cs typeface="+mj-cs"/>
              </a:rPr>
              <a:t>Вопрос 78 </a:t>
            </a:r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Цветовое решение сайтов с учётом аномалий цветового восприятия. Доступность Веб-контента </a:t>
            </a:r>
            <a:r>
              <a:rPr lang="en-US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WCAG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4733AB-175D-8C38-7097-C2F9B7638320}"/>
              </a:ext>
            </a:extLst>
          </p:cNvPr>
          <p:cNvSpPr txBox="1"/>
          <p:nvPr/>
        </p:nvSpPr>
        <p:spPr>
          <a:xfrm>
            <a:off x="149377" y="6463449"/>
            <a:ext cx="7633733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Хужоков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Аскер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Жамболатович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  ППИ Контроль знаний </a:t>
            </a:r>
          </a:p>
        </p:txBody>
      </p:sp>
      <p:pic>
        <p:nvPicPr>
          <p:cNvPr id="14338" name="Picture 2" descr="Picture background">
            <a:extLst>
              <a:ext uri="{FF2B5EF4-FFF2-40B4-BE49-F238E27FC236}">
                <a16:creationId xmlns:a16="http://schemas.microsoft.com/office/drawing/2014/main" id="{9CAC2626-1A36-5F5C-D0E6-BA3927017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288" y="1022176"/>
            <a:ext cx="5240215" cy="2751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721480-8B93-87B4-B014-12AA03C80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551" y="4489212"/>
            <a:ext cx="4224355" cy="16452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B9143F-1F61-61B2-1E47-C9C18AEC6A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1080" y="4530372"/>
            <a:ext cx="4012988" cy="15629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E70B9B-3D90-E714-E9FD-CC1F39C8199C}"/>
              </a:ext>
            </a:extLst>
          </p:cNvPr>
          <p:cNvSpPr txBox="1"/>
          <p:nvPr/>
        </p:nvSpPr>
        <p:spPr>
          <a:xfrm>
            <a:off x="3104250" y="3999942"/>
            <a:ext cx="98543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Плохо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C1E4AC-E6DB-B20B-D453-C644BA473656}"/>
              </a:ext>
            </a:extLst>
          </p:cNvPr>
          <p:cNvSpPr txBox="1"/>
          <p:nvPr/>
        </p:nvSpPr>
        <p:spPr>
          <a:xfrm>
            <a:off x="7143889" y="4027551"/>
            <a:ext cx="126609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Gilroy Medium" panose="00000600000000000000" charset="-52"/>
              </a:rPr>
              <a:t>Хорошо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5966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7D880-3CF7-ACF4-49A1-917FB9D02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F178A7F-4CC8-3A00-7C0E-B2C9308590F0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671E829-FFE1-7A36-87C8-2EF095C9B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4347" y="6134487"/>
            <a:ext cx="578624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16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947669-991B-477A-CB77-851143FB60C6}"/>
              </a:ext>
            </a:extLst>
          </p:cNvPr>
          <p:cNvSpPr txBox="1"/>
          <p:nvPr/>
        </p:nvSpPr>
        <p:spPr>
          <a:xfrm>
            <a:off x="331365" y="324896"/>
            <a:ext cx="9978705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prstClr val="black"/>
                </a:solidFill>
                <a:latin typeface="Gilroy Bold" panose="00000800000000000000" charset="-52"/>
                <a:ea typeface="+mj-ea"/>
                <a:cs typeface="+mj-cs"/>
              </a:rPr>
              <a:t>Вопрос 78 </a:t>
            </a:r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Цветовое решение сайтов с учётом аномалий цветового восприятия. Доступность Веб-контента </a:t>
            </a:r>
            <a:r>
              <a:rPr lang="en-US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WCAG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25000"/>
                </a:srgbClr>
              </a:solidFill>
              <a:effectLst/>
              <a:uLnTx/>
              <a:uFillTx/>
              <a:latin typeface="Gilroy Medium" panose="00000600000000000000" charset="-52"/>
            </a:endParaRP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2E664B-DF19-0671-341D-C39EBF09E6AB}"/>
              </a:ext>
            </a:extLst>
          </p:cNvPr>
          <p:cNvSpPr txBox="1"/>
          <p:nvPr/>
        </p:nvSpPr>
        <p:spPr>
          <a:xfrm>
            <a:off x="149377" y="6463449"/>
            <a:ext cx="7633733" cy="281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Хужоков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Аскер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Жамболатович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,  </a:t>
            </a:r>
            <a:r>
              <a:rPr kumimoji="0" lang="ru-RU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гр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 </a:t>
            </a:r>
            <a:r>
              <a:rPr lang="ru-RU" sz="1100" dirty="0">
                <a:solidFill>
                  <a:prstClr val="black"/>
                </a:solidFill>
                <a:latin typeface="Gilroy Medium" panose="00000600000000000000" charset="-52"/>
              </a:rPr>
              <a:t>241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-3210  ППИ Контроль знаний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137106-F889-80E5-4521-04C83033A0EC}"/>
              </a:ext>
            </a:extLst>
          </p:cNvPr>
          <p:cNvSpPr txBox="1"/>
          <p:nvPr/>
        </p:nvSpPr>
        <p:spPr>
          <a:xfrm>
            <a:off x="2279133" y="2936557"/>
            <a:ext cx="7633734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Вывод – если вы хотите, чтобы сайт был доступным, соблюдайте </a:t>
            </a:r>
            <a:r>
              <a:rPr lang="en-US" sz="2000" dirty="0">
                <a:solidFill>
                  <a:srgbClr val="E7E6E6">
                    <a:lumMod val="25000"/>
                  </a:srgbClr>
                </a:solidFill>
                <a:latin typeface="Gilroy Medium" panose="00000600000000000000" charset="-52"/>
              </a:rPr>
              <a:t>WCAG.</a:t>
            </a:r>
            <a:endParaRPr lang="ru-RU" sz="2000" dirty="0">
              <a:solidFill>
                <a:srgbClr val="E7E6E6">
                  <a:lumMod val="25000"/>
                </a:srgbClr>
              </a:solidFill>
              <a:latin typeface="Gilroy Medium" panose="00000600000000000000" charset="-52"/>
            </a:endParaRPr>
          </a:p>
          <a:p>
            <a:pPr marL="342900" indent="-342900" algn="ctr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8802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55688" y="705942"/>
            <a:ext cx="12502191" cy="428760"/>
          </a:xfrm>
        </p:spPr>
        <p:txBody>
          <a:bodyPr>
            <a:noAutofit/>
          </a:bodyPr>
          <a:lstStyle/>
          <a:p>
            <a:r>
              <a:rPr lang="ru-RU" sz="2800" dirty="0"/>
              <a:t>С п а с и б о    з а   в н и м а н </a:t>
            </a:r>
            <a:r>
              <a:rPr lang="ru-RU" sz="2800"/>
              <a:t>и е ! </a:t>
            </a:r>
            <a:endParaRPr lang="ru-RU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E462F7-B2A7-4E4D-8555-1647177CEEFC}"/>
              </a:ext>
            </a:extLst>
          </p:cNvPr>
          <p:cNvSpPr txBox="1"/>
          <p:nvPr/>
        </p:nvSpPr>
        <p:spPr>
          <a:xfrm>
            <a:off x="2632668" y="3906053"/>
            <a:ext cx="6501284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sz="1800" dirty="0">
                <a:latin typeface="Gilroy Medium" panose="00000600000000000000" charset="-52"/>
              </a:rPr>
              <a:t>Студент:  </a:t>
            </a:r>
            <a:r>
              <a:rPr lang="ru-RU" dirty="0" err="1">
                <a:latin typeface="Gilroy Medium" panose="00000600000000000000" charset="-52"/>
              </a:rPr>
              <a:t>Хужоков</a:t>
            </a:r>
            <a:r>
              <a:rPr lang="ru-RU" dirty="0">
                <a:latin typeface="Gilroy Medium" panose="00000600000000000000" charset="-52"/>
              </a:rPr>
              <a:t> Аскер </a:t>
            </a:r>
            <a:r>
              <a:rPr lang="ru-RU" dirty="0" err="1">
                <a:latin typeface="Gilroy Medium" panose="00000600000000000000" charset="-52"/>
              </a:rPr>
              <a:t>Жамболатович</a:t>
            </a:r>
            <a:r>
              <a:rPr lang="ru-RU" sz="1800" dirty="0">
                <a:latin typeface="Gilroy Medium" panose="00000600000000000000" charset="-52"/>
              </a:rPr>
              <a:t>,  группа </a:t>
            </a:r>
            <a:r>
              <a:rPr lang="ru-RU" dirty="0">
                <a:latin typeface="Gilroy Medium" panose="00000600000000000000" charset="-52"/>
              </a:rPr>
              <a:t>241-32</a:t>
            </a:r>
            <a:r>
              <a:rPr lang="ru-RU" sz="1800" dirty="0">
                <a:latin typeface="Gilroy Medium" panose="00000600000000000000" charset="-52"/>
              </a:rPr>
              <a:t>10 </a:t>
            </a:r>
          </a:p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solidFill>
                  <a:schemeClr val="tx1"/>
                </a:solidFill>
                <a:latin typeface="Gilroy Medium" panose="00000600000000000000" charset="-52"/>
              </a:rPr>
              <a:t>Преподаватели </a:t>
            </a:r>
            <a:r>
              <a:rPr lang="ru-RU" sz="1800" dirty="0">
                <a:latin typeface="Gilroy Medium" panose="00000600000000000000" charset="-52"/>
              </a:rPr>
              <a:t>Пухова Е.А. </a:t>
            </a:r>
            <a:r>
              <a:rPr lang="ru-RU" dirty="0">
                <a:solidFill>
                  <a:schemeClr val="tx1"/>
                </a:solidFill>
                <a:latin typeface="Gilroy Medium" panose="00000600000000000000" charset="-52"/>
              </a:rPr>
              <a:t>Натур В.В</a:t>
            </a:r>
            <a:r>
              <a:rPr lang="ru-RU" sz="1800" dirty="0">
                <a:solidFill>
                  <a:schemeClr val="tx1"/>
                </a:solidFill>
                <a:latin typeface="Gilroy Medium" panose="00000600000000000000" charset="-52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76724-8B7E-49E1-A5D8-0A86497396F2}"/>
              </a:ext>
            </a:extLst>
          </p:cNvPr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n-ea"/>
                <a:cs typeface="+mn-cs"/>
              </a:rPr>
              <a:t>2025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E841-C2B3-4680-B71A-C0E060431885}"/>
              </a:ext>
            </a:extLst>
          </p:cNvPr>
          <p:cNvSpPr txBox="1"/>
          <p:nvPr/>
        </p:nvSpPr>
        <p:spPr>
          <a:xfrm>
            <a:off x="1434420" y="2951946"/>
            <a:ext cx="965487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Проектирование пользовательских интерфейсов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800" b="1" dirty="0">
                <a:solidFill>
                  <a:prstClr val="black"/>
                </a:solidFill>
                <a:latin typeface="Gilroy Bold" panose="00000800000000000000" charset="-52"/>
              </a:rPr>
              <a:t>Контроль знаний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6" id="{2AEEDDF9-59ED-463C-8E0C-BF21DC8B3CB6}" vid="{CDD37877-5C07-4AD6-AFB2-357C367BDE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Shablon_Moscow_Poly_v3</Template>
  <TotalTime>728</TotalTime>
  <Words>899</Words>
  <Application>Microsoft Macintosh PowerPoint</Application>
  <PresentationFormat>Widescreen</PresentationFormat>
  <Paragraphs>125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</vt:lpstr>
      <vt:lpstr>Verdana</vt:lpstr>
      <vt:lpstr>Gilroy Bold</vt:lpstr>
      <vt:lpstr>Gilroy Medium</vt:lpstr>
      <vt:lpstr>Arial</vt:lpstr>
      <vt:lpstr>Тема2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С п а с и б о    з а   в н и м а н и е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Veronika Natur</dc:creator>
  <cp:lastModifiedBy>Asker Khuzhokov</cp:lastModifiedBy>
  <cp:revision>58</cp:revision>
  <dcterms:created xsi:type="dcterms:W3CDTF">2024-05-27T20:04:35Z</dcterms:created>
  <dcterms:modified xsi:type="dcterms:W3CDTF">2025-11-15T16:00:56Z</dcterms:modified>
</cp:coreProperties>
</file>